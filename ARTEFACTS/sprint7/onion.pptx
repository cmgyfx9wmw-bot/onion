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3" r:id="rId4"/>
    <p:sldId id="264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12A"/>
    <a:srgbClr val="444444"/>
    <a:srgbClr val="D2A679"/>
    <a:srgbClr val="E3C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27283-0D8E-1341-AB81-9DE6F87EEE35}" v="239" dt="2026-06-22T21:05:26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15"/>
    <p:restoredTop sz="57320"/>
  </p:normalViewPr>
  <p:slideViewPr>
    <p:cSldViewPr snapToGrid="0">
      <p:cViewPr>
        <p:scale>
          <a:sx n="118" d="100"/>
          <a:sy n="118" d="100"/>
        </p:scale>
        <p:origin x="0" y="216"/>
      </p:cViewPr>
      <p:guideLst/>
    </p:cSldViewPr>
  </p:slideViewPr>
  <p:notesTextViewPr>
    <p:cViewPr>
      <p:scale>
        <a:sx n="80" d="100"/>
        <a:sy n="8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1A2B8-25DA-E34B-B452-03C106974AF1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20AB-6024-C046-B37B-0C5E615F4D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86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220AB-6024-C046-B37B-0C5E615F4D8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98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Mvc</a:t>
            </a:r>
            <a:r>
              <a:rPr lang="de-DE" dirty="0"/>
              <a:t> </a:t>
            </a:r>
            <a:r>
              <a:rPr lang="de-DE" dirty="0" err="1"/>
              <a:t>prinzip</a:t>
            </a:r>
            <a:r>
              <a:rPr lang="de-DE" dirty="0"/>
              <a:t> </a:t>
            </a:r>
            <a:r>
              <a:rPr lang="de-DE" dirty="0" err="1"/>
              <a:t>midel</a:t>
            </a:r>
            <a:r>
              <a:rPr lang="de-DE" dirty="0"/>
              <a:t> </a:t>
            </a:r>
            <a:r>
              <a:rPr lang="de-DE" dirty="0" err="1"/>
              <a:t>views</a:t>
            </a:r>
            <a:r>
              <a:rPr lang="de-DE" dirty="0"/>
              <a:t> </a:t>
            </a:r>
            <a:r>
              <a:rPr lang="de-DE" dirty="0" err="1"/>
              <a:t>controller</a:t>
            </a:r>
          </a:p>
          <a:p>
            <a:r>
              <a:rPr lang="de-DE" dirty="0"/>
              <a:t>Für die Entwicklung der Webanwendung wurde </a:t>
            </a:r>
            <a:r>
              <a:rPr lang="de-DE" dirty="0" err="1"/>
              <a:t>Laravel</a:t>
            </a:r>
            <a:r>
              <a:rPr lang="de-DE" dirty="0"/>
              <a:t> verwendet</a:t>
            </a:r>
          </a:p>
          <a:p>
            <a:r>
              <a:rPr lang="de-DE" dirty="0"/>
              <a:t>Wie funktioniert </a:t>
            </a:r>
            <a:r>
              <a:rPr lang="de-DE" dirty="0" err="1"/>
              <a:t>Laravel</a:t>
            </a:r>
            <a:r>
              <a:rPr lang="de-DE" dirty="0"/>
              <a:t>?</a:t>
            </a:r>
          </a:p>
          <a:p>
            <a:r>
              <a:rPr lang="de-DE" dirty="0"/>
              <a:t> Route</a:t>
            </a:r>
          </a:p>
          <a:p>
            <a:r>
              <a:rPr lang="de-DE" dirty="0"/>
              <a:t>  Eine URL-Anfrage des Benutzers wird über die Routing-Datei verarbeitet.</a:t>
            </a:r>
          </a:p>
          <a:p>
            <a:r>
              <a:rPr lang="de-DE" dirty="0"/>
              <a:t>  Beispiel: /</a:t>
            </a:r>
            <a:r>
              <a:rPr lang="de-DE" dirty="0" err="1"/>
              <a:t>users</a:t>
            </a:r>
            <a:endParaRPr lang="de-DE" dirty="0"/>
          </a:p>
          <a:p>
            <a:r>
              <a:rPr lang="de-DE" dirty="0"/>
              <a:t> Controller</a:t>
            </a:r>
          </a:p>
          <a:p>
            <a:r>
              <a:rPr lang="de-DE" dirty="0"/>
              <a:t>  Der Controller enthält die Anwendungslogik.</a:t>
            </a:r>
          </a:p>
          <a:p>
            <a:r>
              <a:rPr lang="de-DE" dirty="0"/>
              <a:t>  Er verarbeitet die Anfrage und entscheidet, welche Daten benötigt werden.</a:t>
            </a:r>
          </a:p>
          <a:p>
            <a:r>
              <a:rPr lang="de-DE" dirty="0"/>
              <a:t> Model</a:t>
            </a:r>
          </a:p>
          <a:p>
            <a:r>
              <a:rPr lang="de-DE" dirty="0"/>
              <a:t>  Das Model kommuniziert mit der Datenbank.</a:t>
            </a:r>
          </a:p>
          <a:p>
            <a:r>
              <a:rPr lang="de-DE" dirty="0"/>
              <a:t>  Daten werden gelesen, gespeichert oder aktualisiert.</a:t>
            </a:r>
          </a:p>
          <a:p>
            <a:r>
              <a:rPr lang="de-DE" dirty="0"/>
              <a:t> View</a:t>
            </a:r>
          </a:p>
          <a:p>
            <a:r>
              <a:rPr lang="de-DE" dirty="0"/>
              <a:t>  Die Daten werden an eine View übergeben.</a:t>
            </a:r>
          </a:p>
          <a:p>
            <a:r>
              <a:rPr lang="de-DE" dirty="0"/>
              <a:t>  Die View erzeugt die HTML-Ausgabe für den Benutzer.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220AB-6024-C046-B37B-0C5E615F4D8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8509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highlight>
                  <a:srgbClr val="FF00FF"/>
                </a:highlight>
              </a:rPr>
              <a:t>@</a:t>
            </a:r>
            <a:r>
              <a:rPr lang="de-DE" dirty="0" err="1">
                <a:highlight>
                  <a:srgbClr val="FF00FF"/>
                </a:highlight>
              </a:rPr>
              <a:t>cosima</a:t>
            </a:r>
            <a:r>
              <a:rPr lang="de-DE" dirty="0">
                <a:highlight>
                  <a:srgbClr val="FF00FF"/>
                </a:highlight>
              </a:rPr>
              <a:t> 6.semester + </a:t>
            </a:r>
            <a:r>
              <a:rPr lang="de-DE" dirty="0" err="1">
                <a:highlight>
                  <a:srgbClr val="FF00FF"/>
                </a:highlight>
              </a:rPr>
              <a:t>berufserfahrung</a:t>
            </a:r>
            <a:r>
              <a:rPr lang="de-DE" dirty="0">
                <a:highlight>
                  <a:srgbClr val="FF00FF"/>
                </a:highlight>
              </a:rPr>
              <a:t> </a:t>
            </a:r>
            <a:r>
              <a:rPr lang="de-DE" dirty="0" err="1">
                <a:highlight>
                  <a:srgbClr val="FF00FF"/>
                </a:highlight>
              </a:rPr>
              <a:t>vs</a:t>
            </a:r>
            <a:r>
              <a:rPr lang="de-DE" dirty="0">
                <a:highlight>
                  <a:srgbClr val="FF00FF"/>
                </a:highlight>
              </a:rPr>
              <a:t> uns.</a:t>
            </a:r>
          </a:p>
          <a:p>
            <a:r>
              <a:rPr lang="de-DE" dirty="0">
                <a:highlight>
                  <a:srgbClr val="FF00FF"/>
                </a:highlight>
              </a:rPr>
              <a:t>Eher nachts am arbeiten und gegen </a:t>
            </a:r>
            <a:r>
              <a:rPr lang="de-DE" dirty="0" err="1">
                <a:highlight>
                  <a:srgbClr val="FF00FF"/>
                </a:highlight>
              </a:rPr>
              <a:t>abgabenende</a:t>
            </a:r>
            <a:r>
              <a:rPr lang="de-DE" dirty="0">
                <a:highlight>
                  <a:srgbClr val="FF00FF"/>
                </a:highlight>
              </a:rPr>
              <a:t> vs. So früh wie möglich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220AB-6024-C046-B37B-0C5E615F4D8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18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54B64-7BBE-0C35-E72C-A9856DF3D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F5446D-EE27-3562-B53F-492B8B4CA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8CCBBC-99E1-6614-36DA-F51F9725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90E-BCB9-0E44-9C7A-BB44C2108F69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BE84E2-8664-803F-CB12-A9EEA405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9215AC-AE68-6E2D-CC50-B6AA4A63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593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47378-A16B-B98B-A332-9331658D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9F5707-4EF0-CC76-0AE6-28152634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65E861-35B9-F761-E7B5-719CAF351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E033-DA07-544D-880A-DAF791F5B0DD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C12A6C-BF97-715A-C632-444CEDF6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0E52A-0D2E-0D9D-DA78-737B14DA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32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BFAA8-A913-7F37-9834-0E9AC46A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AE1E3A-0CD7-813D-82A0-D06439536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5EA02-E101-BA9D-1DC7-B8628DAB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F422-6E8B-9048-A06B-1AFDF5C1AD5E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EF29A9-E116-AFA4-D42C-3EF0B54B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626F5F-9D92-477A-278E-EDBE8D7D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6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06491-1876-33AC-4C2F-8BE62875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0F343A-3AC6-13C3-78BA-0B29F4293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FD18AF-FAEA-2171-4253-B74594B57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89A5B0-7059-D199-7C1A-D366BC76B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4AC9F-34DF-0D46-992A-06DAA2874F94}" type="datetime1">
              <a:rPr lang="de-AT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BFDC54-1684-0BF2-A761-47E6009E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A2E8F2-2D8B-375D-E86B-A7FC8783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08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AE60F-5D2B-35CA-B704-C0FC2ACB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F67E9E-AFB8-586E-2004-A5D0493FB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483E74-4EAA-AD23-74DA-2CEBCDFDB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5BD0A2-728F-680F-8B98-5C18F1B40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C40E5EC-2974-9364-E607-5CD7F96D7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8753ED-4685-7B76-A493-F24B0838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A381-E54A-984E-B665-E4968B3E07DC}" type="datetime1">
              <a:rPr lang="de-AT" smtClean="0"/>
              <a:t>23.06.2026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6813B-1FD5-9815-DE08-48F020F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5431DA-39D4-983C-9B4D-C68DAD3A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28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68464-FA87-24F4-9B33-CECD4A73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927624-6094-EB2E-0D16-D47E1A00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F628-C8AE-A946-AD51-00CA40BE1073}" type="datetime1">
              <a:rPr lang="de-AT" smtClean="0"/>
              <a:t>23.06.2026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4F431C-ED08-C23B-A098-6557355A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B8B7C3-3608-0E4A-7A63-EB196525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9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DFF890-8FBD-1432-642F-9CA837BC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1CA6-8D4E-AA4D-9342-1C4CE7D7B048}" type="datetime1">
              <a:rPr lang="de-AT" smtClean="0"/>
              <a:t>23.06.2026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456A70-7A0E-5805-24F0-6D969D29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E13D61-7ADF-8E3F-6F7B-B2CB09C2B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952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32CFF-876E-66F3-DDD9-14B05ECA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0B019-F051-FB3A-6842-B17A2E3D3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8365B4-D2FA-7573-5457-32FD08998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A7334A-1E54-81B2-4585-AFF12466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4D86-D6E8-524E-AD6E-AFE48894D8F5}" type="datetime1">
              <a:rPr lang="de-AT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38F40-800D-9190-3390-454F51B7C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D46998-6C5A-D4EB-982F-4B50405B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31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67195-CEEF-5C80-5E27-8D335487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4DE190D-56D3-30BD-19B3-DF182C598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FD7583-BDAA-ED8F-1C83-A4364294F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9B4D20-8610-E51B-183E-4134DA5F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12A2-1EF2-E549-98D0-EA949284E78B}" type="datetime1">
              <a:rPr lang="de-AT" smtClean="0"/>
              <a:t>23.06.2026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4D3B9A-8285-4EA3-AB3C-CF02B4F4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97427E-DF1B-752D-BEAD-DD8E4027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72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F89E7-7E35-04E7-ADAD-9802B2C7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4CA1751-F14A-5471-CC4E-58049DCB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4A59BB-73EA-1A69-8560-DDF63FA3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E97D6-2F98-7942-8A59-08A82444DE10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A9A87F-A7D3-1BEF-8FFF-5E4B042F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7D62A1-A1D3-01BF-0B47-1A15BBAB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148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93208F-1F57-B235-4A8F-D5B304F5B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7594E7-7EB4-08E0-172A-3098F18C5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D3DB3A-273F-86B2-1836-9DB40ACD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01E73-3742-C449-A32B-345A5A8568B9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45BB54-917F-E85E-7F95-7EB6DE8F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9DF399-68D7-85C7-42BF-145F2CAC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695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C4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712A94-9EDC-32DA-5E57-EB13C92C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2B3CFA-1AC7-3312-5BDC-8A9098DE3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A1533D-27FF-980D-F00B-15A45C7CA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03273-0C88-714E-A780-DA0D82DCE970}" type="datetime1">
              <a:rPr lang="de-AT" smtClean="0"/>
              <a:t>23.06.2026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BBAAA4-282C-200D-821F-183DA8338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on¿on - ITP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FB6F15-E59B-AEC0-31D0-060598E62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29D97-926B-B04F-ABBC-DFE1430153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34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Entwurf, Zeichnung, Kinder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6D9ABC3D-6279-C805-72E6-2B70E43790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0959604">
            <a:off x="-588965" y="3358778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5EF77F1-E556-0B16-F546-F3AD8B143B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692980">
            <a:off x="-648832" y="5492149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5" name="Grafik 4" descr="Ein Bild, das Entwurf, Zeichnung, Schwarzweiß enthält.&#10;&#10;KI-generierte Inhalte können fehlerhaft sein.">
            <a:extLst>
              <a:ext uri="{FF2B5EF4-FFF2-40B4-BE49-F238E27FC236}">
                <a16:creationId xmlns:a16="http://schemas.microsoft.com/office/drawing/2014/main" id="{DA2D2AC1-C16C-6499-1186-243653B3E8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1141149">
            <a:off x="1585200" y="4236914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6" name="Grafik 5" descr="Ein Bild, das Entwurf, Zeichnung, Kinderkunst, Kunst enthält.&#10;&#10;KI-generierte Inhalte können fehlerhaft sein.">
            <a:extLst>
              <a:ext uri="{FF2B5EF4-FFF2-40B4-BE49-F238E27FC236}">
                <a16:creationId xmlns:a16="http://schemas.microsoft.com/office/drawing/2014/main" id="{8E20B442-1B1D-8DAD-6532-EC18739306E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838017">
            <a:off x="1459701" y="1381818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77BB35C-679A-CFE4-9052-A4055094955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925343" y="702624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9" name="Grafik 8" descr="Ein Bild, das Zeichnung, Entwurf, Unterteller, Serviergeschirr enthält.&#10;&#10;KI-generierte Inhalte können fehlerhaft sein.">
            <a:extLst>
              <a:ext uri="{FF2B5EF4-FFF2-40B4-BE49-F238E27FC236}">
                <a16:creationId xmlns:a16="http://schemas.microsoft.com/office/drawing/2014/main" id="{2888969D-D76A-42EA-CBFB-748A2DC4710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20960470">
            <a:off x="1596476" y="-674667"/>
            <a:ext cx="2690653" cy="2690653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0" name="Grafik 9" descr="Ein Bild, das Entwurf, Zeichnung, Kinder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0A1D886B-21AF-5B35-BAAC-9BE1A10947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0959604">
            <a:off x="3657894" y="460601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77EA44C-DE61-6787-EF9A-CB8DAFF330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692980">
            <a:off x="3598027" y="2895345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2" name="Grafik 11" descr="Ein Bild, das Entwurf, Zeichnung, Schwarzweiß enthält.&#10;&#10;KI-generierte Inhalte können fehlerhaft sein.">
            <a:extLst>
              <a:ext uri="{FF2B5EF4-FFF2-40B4-BE49-F238E27FC236}">
                <a16:creationId xmlns:a16="http://schemas.microsoft.com/office/drawing/2014/main" id="{142D0BA5-07BB-6C75-502D-553FD8CB103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1141149">
            <a:off x="5811788" y="1331832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3" name="Grafik 12" descr="Ein Bild, das Entwurf, Zeichnung, Kinderkunst, Kunst enthält.&#10;&#10;KI-generierte Inhalte können fehlerhaft sein.">
            <a:extLst>
              <a:ext uri="{FF2B5EF4-FFF2-40B4-BE49-F238E27FC236}">
                <a16:creationId xmlns:a16="http://schemas.microsoft.com/office/drawing/2014/main" id="{C2618E8D-A751-C267-FE73-8DB04B456BF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838017">
            <a:off x="5706560" y="-1214986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33F01F5-CFD1-9A10-70D6-36CCA3034FD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3920300" y="5197395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5" name="Grafik 14" descr="Ein Bild, das Zeichnung, Entwurf, Unterteller, Serviergeschirr enthält.&#10;&#10;KI-generierte Inhalte können fehlerhaft sein.">
            <a:extLst>
              <a:ext uri="{FF2B5EF4-FFF2-40B4-BE49-F238E27FC236}">
                <a16:creationId xmlns:a16="http://schemas.microsoft.com/office/drawing/2014/main" id="{D2718958-8BCD-348E-D31A-3773A48E160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20960470">
            <a:off x="6401989" y="3960179"/>
            <a:ext cx="2690653" cy="2690653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6" name="Grafik 15" descr="Ein Bild, das Entwurf, Zeichnung, Kinder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82553BF3-1B15-F02E-7C5A-0E5A862783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20959604">
            <a:off x="8364017" y="3358777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A424862-E53E-C628-63DD-02187A26DC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692980">
            <a:off x="7844790" y="5119666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8" name="Grafik 17" descr="Ein Bild, das Entwurf, Zeichnung, Schwarzweiß enthält.&#10;&#10;KI-generierte Inhalte können fehlerhaft sein.">
            <a:extLst>
              <a:ext uri="{FF2B5EF4-FFF2-40B4-BE49-F238E27FC236}">
                <a16:creationId xmlns:a16="http://schemas.microsoft.com/office/drawing/2014/main" id="{B62BF9CB-C97E-68A5-011E-FAB851B802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1141149">
            <a:off x="10517911" y="3928635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19" name="Grafik 18" descr="Ein Bild, das Entwurf, Zeichnung, Kinderkunst, Kunst enthält.&#10;&#10;KI-generierte Inhalte können fehlerhaft sein.">
            <a:extLst>
              <a:ext uri="{FF2B5EF4-FFF2-40B4-BE49-F238E27FC236}">
                <a16:creationId xmlns:a16="http://schemas.microsoft.com/office/drawing/2014/main" id="{77E99C14-13D5-DD55-71E7-E512BBB92B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838017">
            <a:off x="10441763" y="1810138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8A2583D9-10C2-B89B-A4F9-CE0CE3420A0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8027639" y="702623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1" name="Grafik 20" descr="Ein Bild, das Zeichnung, Entwurf, Unterteller, Serviergeschirr enthält.&#10;&#10;KI-generierte Inhalte können fehlerhaft sein.">
            <a:extLst>
              <a:ext uri="{FF2B5EF4-FFF2-40B4-BE49-F238E27FC236}">
                <a16:creationId xmlns:a16="http://schemas.microsoft.com/office/drawing/2014/main" id="{89757C1D-729D-98FA-DA3E-EE534C1119C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20960470">
            <a:off x="10549458" y="-674668"/>
            <a:ext cx="2690653" cy="2690653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8E63AC7-2C53-381F-7299-42152259C9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692980">
            <a:off x="8180697" y="-1426018"/>
            <a:ext cx="3125597" cy="3125597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68623AAB-7AAA-E943-49BE-64D3E0067CEB}"/>
              </a:ext>
            </a:extLst>
          </p:cNvPr>
          <p:cNvSpPr/>
          <p:nvPr/>
        </p:nvSpPr>
        <p:spPr>
          <a:xfrm>
            <a:off x="1849140" y="3429000"/>
            <a:ext cx="8493717" cy="17731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800" dirty="0">
              <a:solidFill>
                <a:srgbClr val="444444"/>
              </a:solidFill>
              <a:latin typeface="Figtree Medium" pitchFamily="2" charset="0"/>
            </a:endParaRPr>
          </a:p>
          <a:p>
            <a:pPr algn="ctr"/>
            <a:r>
              <a:rPr lang="de-DE" sz="2800" dirty="0">
                <a:solidFill>
                  <a:srgbClr val="444444"/>
                </a:solidFill>
                <a:latin typeface="Figtree" pitchFamily="2" charset="0"/>
              </a:rPr>
              <a:t>Was ziehst du heute an?</a:t>
            </a:r>
          </a:p>
          <a:p>
            <a:pPr algn="ctr"/>
            <a:r>
              <a:rPr lang="de-DE" sz="1400" dirty="0" err="1">
                <a:solidFill>
                  <a:srgbClr val="444444"/>
                </a:solidFill>
                <a:latin typeface="Figtree Medium" pitchFamily="2" charset="0"/>
              </a:rPr>
              <a:t>Stutterecker</a:t>
            </a:r>
            <a:r>
              <a:rPr lang="de-DE" sz="1400" dirty="0">
                <a:solidFill>
                  <a:srgbClr val="444444"/>
                </a:solidFill>
                <a:latin typeface="Figtree Medium" pitchFamily="2" charset="0"/>
              </a:rPr>
              <a:t> Sinja, Schober Max, Kostenzer Cosima, Rank Leonie</a:t>
            </a:r>
          </a:p>
          <a:p>
            <a:pPr algn="ctr"/>
            <a:endParaRPr lang="de-DE" sz="2800" dirty="0">
              <a:solidFill>
                <a:srgbClr val="444444"/>
              </a:solidFill>
              <a:latin typeface="Figtree Medium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AC821D-4C34-DACB-04E5-063F30E88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8189" y="2625346"/>
            <a:ext cx="4995620" cy="1495183"/>
          </a:xfrm>
        </p:spPr>
        <p:txBody>
          <a:bodyPr>
            <a:noAutofit/>
          </a:bodyPr>
          <a:lstStyle/>
          <a:p>
            <a:r>
              <a:rPr lang="de-DE" sz="12000" b="1" dirty="0" err="1">
                <a:solidFill>
                  <a:srgbClr val="444444"/>
                </a:solidFill>
                <a:latin typeface="Figtree Black" pitchFamily="2" charset="0"/>
              </a:rPr>
              <a:t>on¿on</a:t>
            </a:r>
            <a:endParaRPr lang="de-DE" sz="12000" b="1" dirty="0">
              <a:solidFill>
                <a:srgbClr val="444444"/>
              </a:solidFill>
              <a:latin typeface="Figtree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134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A59E0E-5E9E-B8F4-39AB-6E0C8A81B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Web-App mit relationaler Datenbank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Eigener Kleiderschrank</a:t>
            </a:r>
          </a:p>
          <a:p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Outfitvorschläge basierend auf Wetterdaten</a:t>
            </a:r>
          </a:p>
          <a:p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Feedbacksystem</a:t>
            </a:r>
          </a:p>
          <a:p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Anpassung des Offsets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214683-0730-AD41-9E19-99C292698BCF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400" b="1" dirty="0" err="1">
                <a:solidFill>
                  <a:srgbClr val="444444"/>
                </a:solidFill>
                <a:latin typeface="Figtree Black"/>
              </a:rPr>
              <a:t>on¿on</a:t>
            </a:r>
            <a:r>
              <a:rPr lang="de-DE" sz="4400" b="1" dirty="0">
                <a:solidFill>
                  <a:srgbClr val="444444"/>
                </a:solidFill>
                <a:latin typeface="Figtree Black"/>
              </a:rPr>
              <a:t> - kurze Vorstellung</a:t>
            </a:r>
            <a:endParaRPr lang="de-DE" sz="4400" dirty="0">
              <a:latin typeface="Figtree Black"/>
            </a:endParaRPr>
          </a:p>
        </p:txBody>
      </p:sp>
      <p:pic>
        <p:nvPicPr>
          <p:cNvPr id="19" name="Grafik 18" descr="Ein Bild, das Entwurf, Zeichnung, Kinderkunst, Schwarzweiß enthält.&#10;&#10;KI-generierte Inhalte können fehlerhaft sein.">
            <a:extLst>
              <a:ext uri="{FF2B5EF4-FFF2-40B4-BE49-F238E27FC236}">
                <a16:creationId xmlns:a16="http://schemas.microsoft.com/office/drawing/2014/main" id="{32C318D1-E46A-AEA8-6D36-4244CBE2C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59604">
            <a:off x="8338452" y="3644136"/>
            <a:ext cx="2307642" cy="2307642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AFE7A5C-6B90-E2EB-51DC-E71619E32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92980">
            <a:off x="8546103" y="5158644"/>
            <a:ext cx="2307642" cy="2307642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3" name="Grafik 22" descr="Ein Bild, das Entwurf, Zeichnung, Schwarzweiß enthält.&#10;&#10;KI-generierte Inhalte können fehlerhaft sein.">
            <a:extLst>
              <a:ext uri="{FF2B5EF4-FFF2-40B4-BE49-F238E27FC236}">
                <a16:creationId xmlns:a16="http://schemas.microsoft.com/office/drawing/2014/main" id="{23F879F4-3CE7-D8B7-A7D2-860317DEA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41149">
            <a:off x="6833204" y="4735520"/>
            <a:ext cx="2307642" cy="2307642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7" name="Grafik 26" descr="Ein Bild, das Entwurf, Zeichnung, Kinderkunst, Kunst enthält.&#10;&#10;KI-generierte Inhalte können fehlerhaft sein.">
            <a:extLst>
              <a:ext uri="{FF2B5EF4-FFF2-40B4-BE49-F238E27FC236}">
                <a16:creationId xmlns:a16="http://schemas.microsoft.com/office/drawing/2014/main" id="{B8F27516-7ED8-F4F1-BC3F-131731FF8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38017">
            <a:off x="10030022" y="2296580"/>
            <a:ext cx="2307642" cy="2307642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BF792D42-CE83-0A3A-5B60-B3E8A0542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452" y="1633865"/>
            <a:ext cx="2307642" cy="2307642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  <p:pic>
        <p:nvPicPr>
          <p:cNvPr id="31" name="Grafik 30" descr="Ein Bild, das Zeichnung, Entwurf, Unterteller, Serviergeschirr enthält.&#10;&#10;KI-generierte Inhalte können fehlerhaft sein.">
            <a:extLst>
              <a:ext uri="{FF2B5EF4-FFF2-40B4-BE49-F238E27FC236}">
                <a16:creationId xmlns:a16="http://schemas.microsoft.com/office/drawing/2014/main" id="{BA5C96E5-4DAB-15A9-ABD4-8E764F2E8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960470">
            <a:off x="10183949" y="712112"/>
            <a:ext cx="1986521" cy="1986521"/>
          </a:xfrm>
          <a:prstGeom prst="rect">
            <a:avLst/>
          </a:prstGeom>
          <a:effectLst>
            <a:outerShdw blurRad="296155" dist="57592" dir="5400000" algn="t" rotWithShape="0">
              <a:prstClr val="black">
                <a:alpha val="32689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856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nhaltsplatzhalter 24" descr="Ein Bild, das Text, Screenshot, Software, Multimedia enthält.&#10;&#10;KI-generierte Inhalte können fehlerhaft sein.">
            <a:extLst>
              <a:ext uri="{FF2B5EF4-FFF2-40B4-BE49-F238E27FC236}">
                <a16:creationId xmlns:a16="http://schemas.microsoft.com/office/drawing/2014/main" id="{C134A076-7197-4848-49FE-3470B41989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64247"/>
            <a:ext cx="5181600" cy="3139521"/>
          </a:xfrm>
        </p:spPr>
      </p:pic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2EE74310-08EC-63A1-C5F6-7467D6CC1BF5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400" b="1" dirty="0">
                <a:solidFill>
                  <a:srgbClr val="444444"/>
                </a:solidFill>
                <a:latin typeface="Figtree Black"/>
              </a:rPr>
              <a:t>warum </a:t>
            </a:r>
            <a:r>
              <a:rPr lang="de-DE" sz="4400" b="1" dirty="0" err="1">
                <a:solidFill>
                  <a:srgbClr val="444444"/>
                </a:solidFill>
                <a:latin typeface="Figtree Black"/>
              </a:rPr>
              <a:t>on¿on</a:t>
            </a:r>
            <a:r>
              <a:rPr lang="de-DE" sz="4400" b="1" dirty="0">
                <a:solidFill>
                  <a:srgbClr val="444444"/>
                </a:solidFill>
                <a:latin typeface="Figtree Black"/>
              </a:rPr>
              <a:t>?</a:t>
            </a:r>
            <a:endParaRPr lang="de-DE" sz="4400" dirty="0">
              <a:latin typeface="Figtree Black"/>
            </a:endParaRPr>
          </a:p>
        </p:txBody>
      </p:sp>
      <p:pic>
        <p:nvPicPr>
          <p:cNvPr id="23" name="Inhaltsplatzhalter 22" descr="Ein Bild, das Screenshot, Tex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2FEC9E4B-9500-F84F-0950-6CD1F0D797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2164247"/>
            <a:ext cx="5181600" cy="3139521"/>
          </a:xfrm>
        </p:spPr>
      </p:pic>
      <p:pic>
        <p:nvPicPr>
          <p:cNvPr id="3" name="Grafik 2" descr="Ein Bild, das Elektronik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92B86F2A-7458-98E5-2D33-EE02CDF52F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4" t="9770" r="2675" b="13706"/>
          <a:stretch>
            <a:fillRect/>
          </a:stretch>
        </p:blipFill>
        <p:spPr>
          <a:xfrm>
            <a:off x="6394622" y="2573927"/>
            <a:ext cx="4676414" cy="24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9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5902FF-465B-E1D6-B44A-36767197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96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solidFill>
                  <a:srgbClr val="444444"/>
                </a:solidFill>
                <a:latin typeface="Figtree"/>
              </a:rPr>
              <a:t>Open-Source Framework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Vorgefertigte Funktionen und Bausteine (</a:t>
            </a:r>
            <a:r>
              <a:rPr lang="de-DE" dirty="0">
                <a:solidFill>
                  <a:srgbClr val="444444"/>
                </a:solidFill>
                <a:latin typeface="Figtree"/>
                <a:ea typeface="+mn-lt"/>
                <a:cs typeface="+mn-lt"/>
              </a:rPr>
              <a:t>z.B. </a:t>
            </a:r>
            <a:r>
              <a:rPr lang="de-DE" dirty="0">
                <a:solidFill>
                  <a:srgbClr val="444444"/>
                </a:solidFill>
                <a:ea typeface="+mn-lt"/>
                <a:cs typeface="+mn-lt"/>
              </a:rPr>
              <a:t>Authentifizierung</a:t>
            </a:r>
            <a:r>
              <a:rPr lang="de-DE" dirty="0">
                <a:solidFill>
                  <a:srgbClr val="444444"/>
                </a:solidFill>
                <a:latin typeface="Figtree"/>
              </a:rPr>
              <a:t>)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  <a:ea typeface="+mn-lt"/>
                <a:cs typeface="+mn-lt"/>
              </a:rPr>
              <a:t>Basiert auf dem MVC-Prinzip (Model-View-Controller)</a:t>
            </a:r>
          </a:p>
          <a:p>
            <a:endParaRPr lang="de-DE" dirty="0">
              <a:latin typeface="Figtree"/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6C18C5F2-BB06-3F9B-BBD7-96F4D7FB22F7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400" b="1" dirty="0" err="1">
                <a:solidFill>
                  <a:srgbClr val="444444"/>
                </a:solidFill>
                <a:latin typeface="Figtree Black"/>
              </a:rPr>
              <a:t>Laravel</a:t>
            </a:r>
            <a:endParaRPr lang="de-DE" sz="4400" dirty="0">
              <a:latin typeface="Figtree Black"/>
            </a:endParaRPr>
          </a:p>
        </p:txBody>
      </p:sp>
      <p:pic>
        <p:nvPicPr>
          <p:cNvPr id="8" name="Grafik 7" descr="Ein Bild, das Grafiken, Design, Kunst enthält.&#10;&#10;KI-generierte Inhalte können fehlerhaft sein.">
            <a:extLst>
              <a:ext uri="{FF2B5EF4-FFF2-40B4-BE49-F238E27FC236}">
                <a16:creationId xmlns:a16="http://schemas.microsoft.com/office/drawing/2014/main" id="{0BA08B68-6B9C-9D0D-7C5E-19063B714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445" y="425574"/>
            <a:ext cx="1786960" cy="1183145"/>
          </a:xfrm>
          <a:prstGeom prst="rect">
            <a:avLst/>
          </a:prstGeom>
        </p:spPr>
      </p:pic>
      <p:pic>
        <p:nvPicPr>
          <p:cNvPr id="13" name="Grafik 12" descr="Ein Bild, das Entwurf, Zeichnung, Text, Schrift enthält.&#10;&#10;KI-generierte Inhalte können fehlerhaft sein.">
            <a:extLst>
              <a:ext uri="{FF2B5EF4-FFF2-40B4-BE49-F238E27FC236}">
                <a16:creationId xmlns:a16="http://schemas.microsoft.com/office/drawing/2014/main" id="{B2FF8529-5EE8-1C4C-A229-239F9F1B3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916" y="2322625"/>
            <a:ext cx="9238165" cy="4535375"/>
          </a:xfrm>
          <a:prstGeom prst="rect">
            <a:avLst/>
          </a:prstGeom>
          <a:effectLst>
            <a:outerShdw blurRad="167512" dist="73938" dir="5760000" algn="t" rotWithShape="0">
              <a:prstClr val="black">
                <a:alpha val="1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33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820FE16-135F-2654-69B7-E3DE8EDE6D56}"/>
              </a:ext>
            </a:extLst>
          </p:cNvPr>
          <p:cNvSpPr/>
          <p:nvPr/>
        </p:nvSpPr>
        <p:spPr>
          <a:xfrm>
            <a:off x="838200" y="2364377"/>
            <a:ext cx="10497795" cy="3382537"/>
          </a:xfrm>
          <a:prstGeom prst="roundRect">
            <a:avLst>
              <a:gd name="adj" fmla="val 0"/>
            </a:avLst>
          </a:prstGeom>
          <a:solidFill>
            <a:srgbClr val="D2A6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D0F061-043F-6B3F-EFAF-90FEC833B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0081"/>
            <a:ext cx="1029694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Agiler/iterativer Prozess: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Letzten Sprint besprechen und neuen Planen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Jira Board aktualisieren</a:t>
            </a:r>
            <a:endParaRPr lang="de-DE" dirty="0">
              <a:solidFill>
                <a:srgbClr val="444444"/>
              </a:solidFill>
              <a:latin typeface="Figtree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Falls konkretere Planungsschritte notwendig sind oder Abhängigkeiten </a:t>
            </a:r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bestehen → zusammensetzten </a:t>
            </a:r>
            <a:r>
              <a:rPr lang="de-DE" dirty="0">
                <a:solidFill>
                  <a:srgbClr val="444444"/>
                </a:solidFill>
                <a:latin typeface="Figtree"/>
              </a:rPr>
              <a:t>und Details besprechen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Weitestgehend Selbstständiges arbeiten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444444"/>
                </a:solidFill>
                <a:latin typeface="Figtree"/>
              </a:rPr>
              <a:t>Hochladen der Fortschritte auf GitHub</a:t>
            </a:r>
          </a:p>
          <a:p>
            <a:pPr marL="0" indent="0">
              <a:buNone/>
            </a:pPr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Kommunikation: WhatsApp und Discord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FAAB8CE3-8D4C-1E9B-2F3E-C6AE03D6991B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400" b="1">
                <a:solidFill>
                  <a:srgbClr val="444444"/>
                </a:solidFill>
                <a:latin typeface="Figtree Black"/>
              </a:rPr>
              <a:t>Umsetzung</a:t>
            </a:r>
            <a:endParaRPr lang="de-DE" sz="4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93EBFFD-406F-1976-C4F5-EE508782F940}"/>
              </a:ext>
            </a:extLst>
          </p:cNvPr>
          <p:cNvSpPr txBox="1"/>
          <p:nvPr/>
        </p:nvSpPr>
        <p:spPr>
          <a:xfrm rot="5400000">
            <a:off x="9828089" y="3781474"/>
            <a:ext cx="3352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D2A679"/>
                </a:solidFill>
                <a:latin typeface="Lexend Black" pitchFamily="2" charset="77"/>
              </a:rPr>
              <a:t>Ablauf: Sprint</a:t>
            </a:r>
          </a:p>
        </p:txBody>
      </p:sp>
      <p:pic>
        <p:nvPicPr>
          <p:cNvPr id="10" name="Grafik 9" descr="Ein Bild, das Schwarz, Wurm, Dunkelheit, Schwarzweiß enthält.&#10;&#10;KI-generierte Inhalte können fehlerhaft sein.">
            <a:extLst>
              <a:ext uri="{FF2B5EF4-FFF2-40B4-BE49-F238E27FC236}">
                <a16:creationId xmlns:a16="http://schemas.microsoft.com/office/drawing/2014/main" id="{CC079634-E225-02EA-644A-B9FBC5BD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22765">
            <a:off x="-195535" y="2142062"/>
            <a:ext cx="1744154" cy="370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56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3EE2B-2009-E168-44C6-9B6A6FC0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82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>
                <a:solidFill>
                  <a:srgbClr val="444444"/>
                </a:solidFill>
                <a:latin typeface="Figtree"/>
              </a:rPr>
              <a:t>Spannende Erfahrung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Schwierigkeiten in der Kommunikation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Paralleles arbeiten schwerer als erwartet, </a:t>
            </a:r>
            <a:br>
              <a:rPr lang="de-DE" dirty="0">
                <a:solidFill>
                  <a:srgbClr val="444444"/>
                </a:solidFill>
                <a:latin typeface="Figtree"/>
              </a:rPr>
            </a:br>
            <a:r>
              <a:rPr lang="de-DE" dirty="0">
                <a:solidFill>
                  <a:srgbClr val="444444"/>
                </a:solidFill>
                <a:latin typeface="Figtree"/>
              </a:rPr>
              <a:t>starke Abhängigkeiten zwischen Front und Backend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Gruppenmitglieder die aufgehört haben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Zeiteinschätzung und Umfang, hat sich aufgestaut</a:t>
            </a:r>
          </a:p>
          <a:p>
            <a:r>
              <a:rPr lang="de-DE" dirty="0">
                <a:solidFill>
                  <a:srgbClr val="444444"/>
                </a:solidFill>
                <a:latin typeface="Figtree"/>
              </a:rPr>
              <a:t>Zusammenarbeiten mit „neuen Leuten“,</a:t>
            </a:r>
            <a:br>
              <a:rPr lang="de-DE" dirty="0">
                <a:solidFill>
                  <a:srgbClr val="444444"/>
                </a:solidFill>
                <a:latin typeface="Figtree"/>
              </a:rPr>
            </a:br>
            <a:r>
              <a:rPr lang="de-DE" dirty="0">
                <a:solidFill>
                  <a:srgbClr val="444444"/>
                </a:solidFill>
                <a:latin typeface="Figtree"/>
              </a:rPr>
              <a:t>unterschiedlichen Levels und Arbeitsweisen</a:t>
            </a:r>
          </a:p>
          <a:p>
            <a:r>
              <a:rPr lang="de-DE" dirty="0">
                <a:solidFill>
                  <a:srgbClr val="444444"/>
                </a:solidFill>
                <a:latin typeface="Figtree" pitchFamily="2" charset="0"/>
              </a:rPr>
              <a:t>Viel dazugelernt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195475D9-D7F3-C2C0-312D-8DAB19674285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400" b="1">
                <a:solidFill>
                  <a:srgbClr val="444444"/>
                </a:solidFill>
                <a:latin typeface="Figtree Black"/>
              </a:rPr>
              <a:t>Unsere Erfahrungen</a:t>
            </a:r>
            <a:endParaRPr lang="de-DE" sz="4400">
              <a:latin typeface="Figtree Black"/>
            </a:endParaRPr>
          </a:p>
        </p:txBody>
      </p:sp>
      <p:pic>
        <p:nvPicPr>
          <p:cNvPr id="4" name="Grafik 3" descr="Ein Bild, das Stilllebenfotografie, Stillleben, Gemüse, Licht enthält.&#10;&#10;KI-generierte Inhalte können fehlerhaft sein.">
            <a:extLst>
              <a:ext uri="{FF2B5EF4-FFF2-40B4-BE49-F238E27FC236}">
                <a16:creationId xmlns:a16="http://schemas.microsoft.com/office/drawing/2014/main" id="{82511218-DD14-B83B-DED9-D5E4DF4B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40" y="3449120"/>
            <a:ext cx="4226520" cy="2938187"/>
          </a:xfrm>
          <a:prstGeom prst="rect">
            <a:avLst/>
          </a:prstGeom>
          <a:effectLst>
            <a:outerShdw blurRad="195714" dist="97446" dir="5400000" algn="t" rotWithShape="0">
              <a:prstClr val="black">
                <a:alpha val="23706"/>
              </a:prstClr>
            </a:outerShdw>
          </a:effectLst>
        </p:spPr>
      </p:pic>
      <p:pic>
        <p:nvPicPr>
          <p:cNvPr id="7" name="Grafik 6" descr="Ein Bild, das Gemüse, Zwiebel enthält.&#10;&#10;KI-generierte Inhalte können fehlerhaft sein.">
            <a:extLst>
              <a:ext uri="{FF2B5EF4-FFF2-40B4-BE49-F238E27FC236}">
                <a16:creationId xmlns:a16="http://schemas.microsoft.com/office/drawing/2014/main" id="{113DEC96-99E3-9496-5F03-D16AFF89A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0640" y="1087383"/>
            <a:ext cx="4226520" cy="2938187"/>
          </a:xfrm>
          <a:prstGeom prst="rect">
            <a:avLst/>
          </a:prstGeom>
          <a:effectLst>
            <a:outerShdw blurRad="195714" dist="97446" dir="5400000" algn="t" rotWithShape="0">
              <a:prstClr val="black">
                <a:alpha val="23706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009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0AAB529-6DC5-00F8-BCAC-90A7347E66CC}"/>
              </a:ext>
            </a:extLst>
          </p:cNvPr>
          <p:cNvSpPr/>
          <p:nvPr/>
        </p:nvSpPr>
        <p:spPr>
          <a:xfrm>
            <a:off x="2179108" y="470693"/>
            <a:ext cx="7833783" cy="11144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13937" dist="112039" dir="5400000" sx="103000" sy="103000" algn="t" rotWithShape="0">
              <a:prstClr val="black">
                <a:alpha val="1480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b="1" dirty="0">
                <a:solidFill>
                  <a:srgbClr val="444444"/>
                </a:solidFill>
                <a:latin typeface="Figtree Black" pitchFamily="2" charset="0"/>
              </a:rPr>
              <a:t>Aktueller Stand</a:t>
            </a:r>
            <a:endParaRPr lang="de-DE" sz="4400" dirty="0"/>
          </a:p>
        </p:txBody>
      </p:sp>
      <p:pic>
        <p:nvPicPr>
          <p:cNvPr id="6" name="Inhaltsplatzhalter 24" descr="Ein Bild, das Text, Screenshot, Software, Multimedia enthält.&#10;&#10;KI-generierte Inhalte können fehlerhaft sein.">
            <a:extLst>
              <a:ext uri="{FF2B5EF4-FFF2-40B4-BE49-F238E27FC236}">
                <a16:creationId xmlns:a16="http://schemas.microsoft.com/office/drawing/2014/main" id="{EEAC1A27-3447-90B9-25E7-58DC3466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69" y="4152540"/>
            <a:ext cx="4067628" cy="2464568"/>
          </a:xfrm>
          <a:prstGeom prst="rect">
            <a:avLst/>
          </a:prstGeom>
        </p:spPr>
      </p:pic>
      <p:pic>
        <p:nvPicPr>
          <p:cNvPr id="14" name="Inhaltsplatzhalter 24" descr="Ein Bild, das Text, Screenshot, Software, Multimedia enthält.&#10;&#10;KI-generierte Inhalte können fehlerhaft sein.">
            <a:extLst>
              <a:ext uri="{FF2B5EF4-FFF2-40B4-BE49-F238E27FC236}">
                <a16:creationId xmlns:a16="http://schemas.microsoft.com/office/drawing/2014/main" id="{EB37C6BE-5599-F0BE-BCC2-5843D291F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69" y="1736524"/>
            <a:ext cx="4067628" cy="2464568"/>
          </a:xfrm>
          <a:prstGeom prst="rect">
            <a:avLst/>
          </a:prstGeom>
        </p:spPr>
      </p:pic>
      <p:pic>
        <p:nvPicPr>
          <p:cNvPr id="8" name="Inhaltsplatzhalter 7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760EA23E-6D81-FA1F-3034-DB804DD14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494" t="9796" r="780" b="11512"/>
          <a:stretch>
            <a:fillRect/>
          </a:stretch>
        </p:blipFill>
        <p:spPr>
          <a:xfrm>
            <a:off x="1885657" y="4477714"/>
            <a:ext cx="3648039" cy="1939436"/>
          </a:xfrm>
          <a:prstGeom prst="round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0851F8FF-1E77-5C8E-91D9-B80EA9694426}"/>
              </a:ext>
            </a:extLst>
          </p:cNvPr>
          <p:cNvGrpSpPr/>
          <p:nvPr/>
        </p:nvGrpSpPr>
        <p:grpSpPr>
          <a:xfrm>
            <a:off x="6481203" y="4152540"/>
            <a:ext cx="4067628" cy="2464568"/>
            <a:chOff x="6481203" y="4152540"/>
            <a:chExt cx="4067628" cy="2464568"/>
          </a:xfrm>
        </p:grpSpPr>
        <p:pic>
          <p:nvPicPr>
            <p:cNvPr id="13" name="Inhaltsplatzhalter 24" descr="Ein Bild, das Text, Screenshot, Software, Multimedia enthält.&#10;&#10;KI-generierte Inhalte können fehlerhaft sein.">
              <a:extLst>
                <a:ext uri="{FF2B5EF4-FFF2-40B4-BE49-F238E27FC236}">
                  <a16:creationId xmlns:a16="http://schemas.microsoft.com/office/drawing/2014/main" id="{E9C5DD52-F6B4-BF11-A977-F03C2A5FD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1203" y="4152540"/>
              <a:ext cx="4067628" cy="2464568"/>
            </a:xfrm>
            <a:prstGeom prst="rect">
              <a:avLst/>
            </a:prstGeom>
          </p:spPr>
        </p:pic>
        <p:pic>
          <p:nvPicPr>
            <p:cNvPr id="10" name="Grafik 9" descr="Ein Bild, das Text, Screenshot, Software, Multimedia enthält.&#10;&#10;KI-generierte Inhalte können fehlerhaft sein.">
              <a:extLst>
                <a:ext uri="{FF2B5EF4-FFF2-40B4-BE49-F238E27FC236}">
                  <a16:creationId xmlns:a16="http://schemas.microsoft.com/office/drawing/2014/main" id="{C851BA82-807C-0F3C-A43B-1E417A68B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42" t="9272" r="1429" b="13910"/>
            <a:stretch>
              <a:fillRect/>
            </a:stretch>
          </p:blipFill>
          <p:spPr>
            <a:xfrm>
              <a:off x="6635119" y="4476749"/>
              <a:ext cx="3757053" cy="1940400"/>
            </a:xfrm>
            <a:prstGeom prst="round2SameRect">
              <a:avLst>
                <a:gd name="adj1" fmla="val 0"/>
                <a:gd name="adj2" fmla="val 1490"/>
              </a:avLst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9F945CF-14C1-A61E-CDD1-175C12C5F37F}"/>
              </a:ext>
            </a:extLst>
          </p:cNvPr>
          <p:cNvGrpSpPr/>
          <p:nvPr/>
        </p:nvGrpSpPr>
        <p:grpSpPr>
          <a:xfrm>
            <a:off x="6481203" y="1736524"/>
            <a:ext cx="4067628" cy="2464568"/>
            <a:chOff x="6481203" y="1736524"/>
            <a:chExt cx="4067628" cy="2464568"/>
          </a:xfrm>
        </p:grpSpPr>
        <p:pic>
          <p:nvPicPr>
            <p:cNvPr id="15" name="Inhaltsplatzhalter 24" descr="Ein Bild, das Text, Screenshot, Software, Multimedia enthält.&#10;&#10;KI-generierte Inhalte können fehlerhaft sein.">
              <a:extLst>
                <a:ext uri="{FF2B5EF4-FFF2-40B4-BE49-F238E27FC236}">
                  <a16:creationId xmlns:a16="http://schemas.microsoft.com/office/drawing/2014/main" id="{8DF02926-26C9-2D6A-5FFF-49E481654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1203" y="1736524"/>
              <a:ext cx="4067628" cy="2464568"/>
            </a:xfrm>
            <a:prstGeom prst="rect">
              <a:avLst/>
            </a:prstGeom>
          </p:spPr>
        </p:pic>
        <p:pic>
          <p:nvPicPr>
            <p:cNvPr id="12" name="Grafik 11" descr="Ein Bild, das Elektronik, Tex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9A7E48A1-6116-4469-E8ED-CEE753888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127" t="9242" r="4142" b="16890"/>
            <a:stretch>
              <a:fillRect/>
            </a:stretch>
          </p:blipFill>
          <p:spPr>
            <a:xfrm>
              <a:off x="6661070" y="2061696"/>
              <a:ext cx="3727339" cy="1939437"/>
            </a:xfrm>
            <a:prstGeom prst="round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99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Breitbild</PresentationFormat>
  <Paragraphs>53</Paragraphs>
  <Slides>7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Office</vt:lpstr>
      <vt:lpstr>on¿on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 boi</dc:creator>
  <cp:lastModifiedBy>baba boi</cp:lastModifiedBy>
  <cp:revision>3</cp:revision>
  <dcterms:created xsi:type="dcterms:W3CDTF">2026-06-20T14:48:50Z</dcterms:created>
  <dcterms:modified xsi:type="dcterms:W3CDTF">2026-06-23T19:19:07Z</dcterms:modified>
</cp:coreProperties>
</file>